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2.svg" ContentType="image/svg+xml"/>
  <Override PartName="/ppt/media/image4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8288000" cy="10287000"/>
  <p:notesSz cx="6858000" cy="9144000"/>
  <p:embeddedFontLst>
    <p:embeddedFont>
      <p:font typeface="Montserrat Bold" panose="00000800000000000000"/>
      <p:bold r:id="rId15"/>
    </p:embeddedFont>
    <p:embeddedFont>
      <p:font typeface="Montserrat" panose="00000500000000000000"/>
      <p:regular r:id="rId16"/>
    </p:embeddedFont>
    <p:embeddedFont>
      <p:font typeface="Montserrat Ultra-Bold" panose="00000900000000000000"/>
      <p:bold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  <p:embeddedFont>
      <p:font typeface="Bodoni Bd BT" panose="02070803080706020303" charset="0"/>
      <p:regular r:id="rId22"/>
      <p:bold r:id="rId23"/>
      <p:boldItalic r:id="rId24"/>
    </p:embeddedFont>
    <p:embeddedFont>
      <p:font typeface="Algerian" panose="04020705040A02060702" charset="0"/>
      <p:regular r:id="rId25"/>
    </p:embeddedFont>
    <p:embeddedFont>
      <p:font typeface="Arial Black" panose="020B0A04020102020204" charset="0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.jpe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tags" Target="../tags/tag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tags" Target="../tags/tag2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3.jpe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616399" y="5143500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13950976" y="-2642901"/>
            <a:ext cx="7343202" cy="7343202"/>
            <a:chOff x="0" y="0"/>
            <a:chExt cx="812800" cy="8128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7" name="Freeform 7"/>
          <p:cNvSpPr/>
          <p:nvPr/>
        </p:nvSpPr>
        <p:spPr>
          <a:xfrm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9916098" y="1471899"/>
            <a:ext cx="7343202" cy="734320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5183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10158482" y="1714284"/>
            <a:ext cx="6858433" cy="685843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/>
              <a:stretch>
                <a:fillRect l="-40263" r="-9830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85711" y="3391023"/>
            <a:ext cx="9516771" cy="3569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5800" b="1">
                <a:solidFill>
                  <a:srgbClr val="051838"/>
                </a:solidFill>
                <a:latin typeface="Arial Black" panose="020B0A04020102020204" charset="0"/>
                <a:ea typeface="Montserrat Bold" panose="00000800000000000000"/>
                <a:cs typeface="Arial Black" panose="020B0A04020102020204" charset="0"/>
                <a:sym typeface="Montserrat Bold" panose="00000800000000000000"/>
              </a:rPr>
              <a:t>AI POWERED ASSISTIVE MOBILITY FOR VISUALLY IMPAIRED</a:t>
            </a:r>
            <a:endParaRPr lang="en-US" sz="5800" b="1">
              <a:solidFill>
                <a:srgbClr val="051838"/>
              </a:solidFill>
              <a:latin typeface="Arial Black" panose="020B0A04020102020204" charset="0"/>
              <a:ea typeface="Montserrat Bold" panose="00000800000000000000"/>
              <a:cs typeface="Arial Black" panose="020B0A04020102020204" charset="0"/>
              <a:sym typeface="Montserrat Bold" panose="00000800000000000000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6858229" y="-3671601"/>
            <a:ext cx="7343202" cy="7343202"/>
            <a:chOff x="0" y="0"/>
            <a:chExt cx="812800" cy="812800"/>
          </a:xfrm>
          <a:blipFill rotWithShape="1">
            <a:blip r:embed="rId6"/>
            <a:stretch>
              <a:fillRect/>
            </a:stretch>
          </a:blip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975995" y="7810500"/>
            <a:ext cx="9662795" cy="403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990">
                <a:solidFill>
                  <a:srgbClr val="051838"/>
                </a:solidFill>
                <a:latin typeface="Arial Black" panose="020B0A04020102020204" charset="0"/>
                <a:ea typeface="Montserrat" panose="00000500000000000000"/>
                <a:cs typeface="Arial Black" panose="020B0A04020102020204" charset="0"/>
                <a:sym typeface="Montserrat" panose="00000500000000000000"/>
              </a:rPr>
              <a:t>Project Mentor: Purushothaman N</a:t>
            </a:r>
            <a:endParaRPr lang="en-US" sz="3990">
              <a:solidFill>
                <a:srgbClr val="051838"/>
              </a:solidFill>
              <a:latin typeface="Arial Black" panose="020B0A04020102020204" charset="0"/>
              <a:ea typeface="Montserrat" panose="00000500000000000000"/>
              <a:cs typeface="Arial Black" panose="020B0A04020102020204" charset="0"/>
              <a:sym typeface="Montserrat" panose="00000500000000000000"/>
            </a:endParaRPr>
          </a:p>
        </p:txBody>
      </p:sp>
      <p:sp>
        <p:nvSpPr>
          <p:cNvPr id="16" name="Diamond 15"/>
          <p:cNvSpPr/>
          <p:nvPr/>
        </p:nvSpPr>
        <p:spPr>
          <a:xfrm>
            <a:off x="10158730" y="1664970"/>
            <a:ext cx="6864350" cy="6899910"/>
          </a:xfrm>
          <a:prstGeom prst="diamond">
            <a:avLst/>
          </a:prstGeom>
          <a:blipFill rotWithShape="1">
            <a:blip r:embed="rId7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flipH="1"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291590"/>
            <a:ext cx="8772525" cy="13500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0000"/>
              </a:lnSpc>
            </a:pPr>
            <a:r>
              <a:rPr lang="en-US" sz="4400" b="1">
                <a:solidFill>
                  <a:srgbClr val="051838"/>
                </a:solidFill>
                <a:latin typeface="Bodoni Bd BT" panose="02070803080706020303" charset="0"/>
                <a:ea typeface="Montserrat Ultra-Bold" panose="00000900000000000000"/>
                <a:cs typeface="Bodoni Bd BT" panose="02070803080706020303" charset="0"/>
                <a:sym typeface="Montserrat Ultra-Bold" panose="00000900000000000000"/>
              </a:rPr>
              <a:t>OVERVIEW OF THE PROJECT</a:t>
            </a:r>
            <a:endParaRPr lang="en-US" sz="4400" b="1">
              <a:solidFill>
                <a:srgbClr val="051838"/>
              </a:solidFill>
              <a:latin typeface="Bodoni Bd BT" panose="02070803080706020303" charset="0"/>
              <a:ea typeface="Montserrat Ultra-Bold" panose="00000900000000000000"/>
              <a:cs typeface="Bodoni Bd BT" panose="02070803080706020303" charset="0"/>
              <a:sym typeface="Montserrat Ultra-Bold" panose="000009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920730"/>
            <a:ext cx="9588658" cy="487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Mobility for the visually impaired is often limited by unsafe paths and unseen obstacles. 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Our AI-powered assistive system transforms ordinary navigation into a smart, safe, and independent journey. 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By combining computer vision, real-time detection, and voice guidance, it bridges the gap between ability and accessibility.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Diamond 9"/>
          <p:cNvSpPr/>
          <p:nvPr/>
        </p:nvSpPr>
        <p:spPr>
          <a:xfrm>
            <a:off x="11874500" y="2305050"/>
            <a:ext cx="5821680" cy="6094730"/>
          </a:xfrm>
          <a:prstGeom prst="diamond">
            <a:avLst/>
          </a:prstGeom>
          <a:blipFill rotWithShape="1">
            <a:blip r:embed="rId5"/>
            <a:stretch>
              <a:fillRect/>
            </a:stretch>
          </a:blipFill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2134753" y="4300938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 rotWithShape="1">
              <a:blip r:embed="rId1">
                <a:alphaModFix amt="71000"/>
              </a:blip>
              <a:stretch>
                <a:fillRect/>
              </a:stretch>
            </a:blipFill>
            <a:ln w="762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flipH="1"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181100"/>
            <a:ext cx="9358278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4400" b="1">
                <a:solidFill>
                  <a:srgbClr val="051838"/>
                </a:solidFill>
                <a:latin typeface="Bodoni Bd BT" panose="02070803080706020303" charset="0"/>
                <a:ea typeface="Montserrat Ultra-Bold" panose="00000900000000000000"/>
                <a:cs typeface="Bodoni Bd BT" panose="02070803080706020303" charset="0"/>
                <a:sym typeface="Montserrat Ultra-Bold" panose="00000900000000000000"/>
              </a:rPr>
              <a:t>PURPOSE</a:t>
            </a:r>
            <a:endParaRPr lang="en-US" sz="4400" b="1">
              <a:solidFill>
                <a:srgbClr val="051838"/>
              </a:solidFill>
              <a:latin typeface="Bodoni Bd BT" panose="02070803080706020303" charset="0"/>
              <a:ea typeface="Montserrat Ultra-Bold" panose="00000900000000000000"/>
              <a:cs typeface="Bodoni Bd BT" panose="02070803080706020303" charset="0"/>
              <a:sym typeface="Montserrat Ultra-Bold" panose="000009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698751"/>
            <a:ext cx="10179086" cy="553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To empower visually impaired individuals with safe and independent mobility.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To provide real-time obstacle detection and voice guidance.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To reduce reliance on traditional aids like canes.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To promote accessibility, confidence, and inclusivity in daily navigation.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0">
            <a:off x="-2438431" y="4762500"/>
            <a:ext cx="7343202" cy="7343202"/>
            <a:chOff x="0" y="0"/>
            <a:chExt cx="812800" cy="812800"/>
          </a:xfrm>
          <a:blipFill rotWithShape="1">
            <a:blip r:embed="rId1">
              <a:alphaModFix amt="42000"/>
            </a:blip>
            <a:stretch>
              <a:fillRect/>
            </a:stretch>
          </a:blip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 w="12700" cap="sq">
              <a:solidFill>
                <a:srgbClr val="000000">
                  <a:alpha val="65000"/>
                </a:srgbClr>
              </a:solidFill>
              <a:prstDash val="solid"/>
              <a:miter/>
            </a:ln>
          </p:spPr>
        </p:sp>
      </p:grpSp>
      <p:sp>
        <p:nvSpPr>
          <p:cNvPr id="6" name="Freeform 6"/>
          <p:cNvSpPr/>
          <p:nvPr/>
        </p:nvSpPr>
        <p:spPr>
          <a:xfrm flipV="1">
            <a:off x="-1219470" y="-4228813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1905000" y="3314700"/>
            <a:ext cx="12143740" cy="59245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r>
              <a:rPr lang="en-US" altLang="en-US" sz="3200" b="1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Computer Vision</a:t>
            </a:r>
            <a:r>
              <a:rPr lang="en-US" altLang="en-US" sz="32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 – YOLO for object detection &amp; obstacle recognition</a:t>
            </a: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r>
              <a:rPr lang="en-US" altLang="en-US" sz="3200" b="1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Backend Framework</a:t>
            </a:r>
            <a:r>
              <a:rPr lang="en-US" altLang="en-US" sz="32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 – Flask for real-time processing &amp; integration</a:t>
            </a: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r>
              <a:rPr lang="en-US" altLang="en-US" sz="3200" b="1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Frontend Interface</a:t>
            </a:r>
            <a:r>
              <a:rPr lang="en-US" altLang="en-US" sz="32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 – React for interactive user experience</a:t>
            </a: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r>
              <a:rPr lang="en-US" altLang="en-US" sz="3200" b="1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Speech Technology</a:t>
            </a:r>
            <a:r>
              <a:rPr lang="en-US" altLang="en-US" sz="32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 – Text-to-Speech (TTS) for voice guidance</a:t>
            </a: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r>
              <a:rPr lang="en-US" altLang="en-US" sz="3200" b="1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Sensors &amp; Camera</a:t>
            </a:r>
            <a:r>
              <a:rPr lang="en-US" altLang="en-US" sz="32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 – Capturing real-world environment in real time</a:t>
            </a: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275"/>
              </a:lnSpc>
              <a:buFont typeface="Wingdings" panose="05000000000000000000" charset="0"/>
              <a:buChar char="Ø"/>
            </a:pPr>
            <a:r>
              <a:rPr lang="en-US" altLang="en-US" sz="3200" b="1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Python</a:t>
            </a:r>
            <a:r>
              <a:rPr lang="en-US" altLang="en-US" sz="32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 – Core programming language for AI and system logic</a:t>
            </a:r>
            <a:endParaRPr lang="en-US" altLang="en-US" sz="32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00454" y="1562220"/>
            <a:ext cx="8177423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4400" b="1">
                <a:solidFill>
                  <a:srgbClr val="051838"/>
                </a:solidFill>
                <a:latin typeface="Bodoni Bd BT" panose="02070803080706020303" charset="0"/>
                <a:ea typeface="Montserrat Ultra-Bold" panose="00000900000000000000"/>
                <a:cs typeface="Bodoni Bd BT" panose="02070803080706020303" charset="0"/>
                <a:sym typeface="Montserrat Ultra-Bold" panose="00000900000000000000"/>
              </a:rPr>
              <a:t>TECHNOLOGY STACK</a:t>
            </a:r>
            <a:endParaRPr lang="en-US" sz="4400" b="1">
              <a:solidFill>
                <a:srgbClr val="051838"/>
              </a:solidFill>
              <a:latin typeface="Bodoni Bd BT" panose="02070803080706020303" charset="0"/>
              <a:ea typeface="Montserrat Ultra-Bold" panose="00000900000000000000"/>
              <a:cs typeface="Bodoni Bd BT" panose="02070803080706020303" charset="0"/>
              <a:sym typeface="Montserrat Ultra-Bold" panose="000009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Diamond 12"/>
          <p:cNvSpPr/>
          <p:nvPr/>
        </p:nvSpPr>
        <p:spPr>
          <a:xfrm>
            <a:off x="12725400" y="-1104900"/>
            <a:ext cx="7446010" cy="7391400"/>
          </a:xfrm>
          <a:prstGeom prst="diamond">
            <a:avLst/>
          </a:prstGeom>
          <a:blipFill rotWithShape="1">
            <a:blip r:embed="rId7">
              <a:alphaModFix amt="40000"/>
            </a:blip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592065"/>
            <a:ext cx="8177423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4400" b="1">
                <a:solidFill>
                  <a:srgbClr val="051838"/>
                </a:solidFill>
                <a:latin typeface="Bodoni Bd BT" panose="02070803080706020303" charset="0"/>
                <a:ea typeface="Montserrat Ultra-Bold" panose="00000900000000000000"/>
                <a:cs typeface="Bodoni Bd BT" panose="02070803080706020303" charset="0"/>
                <a:sym typeface="Montserrat Ultra-Bold" panose="00000900000000000000"/>
              </a:rPr>
              <a:t>FEATURES</a:t>
            </a:r>
            <a:endParaRPr lang="en-US" sz="4400" b="1">
              <a:solidFill>
                <a:srgbClr val="051838"/>
              </a:solidFill>
              <a:latin typeface="Bodoni Bd BT" panose="02070803080706020303" charset="0"/>
              <a:ea typeface="Montserrat Ultra-Bold" panose="00000900000000000000"/>
              <a:cs typeface="Bodoni Bd BT" panose="02070803080706020303" charset="0"/>
              <a:sym typeface="Montserrat Ultra-Bold" panose="00000900000000000000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834390" y="3051810"/>
            <a:ext cx="12080875" cy="4900930"/>
          </a:xfrm>
          <a:prstGeom prst="rect">
            <a:avLst/>
          </a:prstGeom>
        </p:spPr>
        <p:txBody>
          <a:bodyPr wrap="square" lIns="0" tIns="0" rIns="0" bIns="0" rtlCol="0" anchor="t">
            <a:noAutofit/>
            <a:scene3d>
              <a:camera prst="orthographicFront"/>
              <a:lightRig rig="threePt" dir="t">
                <a:rot lat="0" lon="0" rev="3600000"/>
              </a:lightRig>
            </a:scene3d>
          </a:bodyPr>
          <a:lstStyle/>
          <a:p>
            <a:pPr marL="457200" indent="-4572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Real-time Obstacle Detection – Detects objects and hazards instantly</a:t>
            </a:r>
            <a:endParaRPr lang="en-US" altLang="en-US" sz="3600">
              <a:solidFill>
                <a:srgbClr val="051838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Voice Guidance – Provides spoken directions for safe navigation</a:t>
            </a:r>
            <a:endParaRPr lang="en-US" altLang="en-US" sz="3600">
              <a:solidFill>
                <a:srgbClr val="051838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Alert System – Notifies users of immediate dangers</a:t>
            </a:r>
            <a:endParaRPr lang="en-US" altLang="en-US" sz="3600">
              <a:solidFill>
                <a:srgbClr val="051838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Portable &amp; User-Friendly – Easy to carry and operate anywhere</a:t>
            </a:r>
            <a:endParaRPr lang="en-US" altLang="en-US" sz="3600">
              <a:solidFill>
                <a:srgbClr val="051838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effectLst>
                  <a:glow>
                    <a:schemeClr val="accent1">
                      <a:alpha val="40000"/>
                    </a:schemeClr>
                  </a:glow>
                </a:effectLst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Scalable &amp; Upgradable – Can integrate new sensors or AI models</a:t>
            </a:r>
            <a:endParaRPr lang="en-US" altLang="en-US" sz="3600">
              <a:solidFill>
                <a:srgbClr val="051838"/>
              </a:solidFill>
              <a:effectLst>
                <a:glow>
                  <a:schemeClr val="accent1">
                    <a:alpha val="40000"/>
                  </a:schemeClr>
                </a:glow>
              </a:effectLst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Diamond 15"/>
          <p:cNvSpPr/>
          <p:nvPr/>
        </p:nvSpPr>
        <p:spPr>
          <a:xfrm>
            <a:off x="11658600" y="647700"/>
            <a:ext cx="6864350" cy="6899910"/>
          </a:xfrm>
          <a:prstGeom prst="diamond">
            <a:avLst/>
          </a:prstGeom>
          <a:blipFill rotWithShape="1">
            <a:blip r:embed="rId6">
              <a:alphaModFix amt="46000"/>
            </a:blip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506165" y="-419056"/>
            <a:ext cx="7343202" cy="7343202"/>
            <a:chOff x="0" y="0"/>
            <a:chExt cx="812800" cy="812800"/>
          </a:xfrm>
          <a:blipFill rotWithShape="1">
            <a:blip r:embed="rId1">
              <a:alphaModFix amt="40000"/>
            </a:blip>
            <a:stretch>
              <a:fillRect/>
            </a:stretch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-1981231" y="3848100"/>
            <a:ext cx="7343202" cy="7343202"/>
            <a:chOff x="0" y="0"/>
            <a:chExt cx="812800" cy="812800"/>
          </a:xfrm>
          <a:blipFill rotWithShape="1">
            <a:blip r:embed="rId2">
              <a:alphaModFix amt="44000"/>
            </a:blip>
            <a:stretch>
              <a:fillRect/>
            </a:stretch>
          </a:blip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6" name="Freeform 6"/>
          <p:cNvSpPr/>
          <p:nvPr/>
        </p:nvSpPr>
        <p:spPr>
          <a:xfrm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43200" y="2628900"/>
            <a:ext cx="13505815" cy="4362450"/>
          </a:xfrm>
          <a:prstGeom prst="rect">
            <a:avLst/>
          </a:prstGeom>
          <a:effectLst>
            <a:outerShdw blurRad="50800" dist="38100" dir="2700000" sx="1000" sy="1000" algn="tl" rotWithShape="0">
              <a:prstClr val="black">
                <a:alpha val="100000"/>
              </a:prstClr>
            </a:outerShdw>
          </a:effectLst>
        </p:spPr>
        <p:txBody>
          <a:bodyPr lIns="0" tIns="0" rIns="0" bIns="0" rtlCol="0" anchor="t">
            <a:noAutofit/>
          </a:bodyPr>
          <a:lstStyle/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Data Capture – Cameras and sensors gather real-world environment data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Object Detection – YOLO model identifies obstacles and hazards in real-time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Backend Processing – Flask handles computations and decision-making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Voice Feedback – Text-to-Speech system provides immediate guidance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User Interaction – React frontend ensures simple and intuitive control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457200" indent="-457200" algn="l">
              <a:lnSpc>
                <a:spcPts val="33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Continuous Improvement – System adapts with new data for accuracy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581639" y="1029000"/>
            <a:ext cx="11856241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4400" b="1">
                <a:solidFill>
                  <a:srgbClr val="051838"/>
                </a:solidFill>
                <a:latin typeface="Bodoni Bd BT" panose="02070803080706020303" charset="0"/>
                <a:ea typeface="Montserrat Ultra-Bold" panose="00000900000000000000"/>
                <a:cs typeface="Bodoni Bd BT" panose="02070803080706020303" charset="0"/>
                <a:sym typeface="Montserrat Ultra-Bold" panose="00000900000000000000"/>
              </a:rPr>
              <a:t>METHODOLOGY</a:t>
            </a:r>
            <a:endParaRPr lang="en-US" sz="4400" b="1">
              <a:solidFill>
                <a:srgbClr val="051838"/>
              </a:solidFill>
              <a:latin typeface="Bodoni Bd BT" panose="02070803080706020303" charset="0"/>
              <a:ea typeface="Montserrat Ultra-Bold" panose="00000900000000000000"/>
              <a:cs typeface="Bodoni Bd BT" panose="02070803080706020303" charset="0"/>
              <a:sym typeface="Montserrat Ultra-Bold" panose="000009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-795655" y="8813800"/>
            <a:ext cx="19879310" cy="1855470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90600" y="2970530"/>
            <a:ext cx="11706860" cy="4570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endParaRPr lang="en-US" altLang="en-US" sz="2700">
              <a:solidFill>
                <a:srgbClr val="05183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71500" indent="-571500" algn="just">
              <a:lnSpc>
                <a:spcPts val="297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GPS Integration – Outdoor navigation with route optimization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just">
              <a:lnSpc>
                <a:spcPts val="297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just">
              <a:lnSpc>
                <a:spcPts val="297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Advanced AI Models – Better object recognition and predictive navigation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just">
              <a:lnSpc>
                <a:spcPts val="297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just">
              <a:lnSpc>
                <a:spcPts val="297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Multilingual Voice Support – Guidance in multiple languages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just">
              <a:lnSpc>
                <a:spcPts val="297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just">
              <a:lnSpc>
                <a:spcPts val="297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Cloud Data Analytics – Continuous improvement via usage data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47800" y="1485900"/>
            <a:ext cx="8116570" cy="1282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00"/>
              </a:lnSpc>
              <a:spcBef>
                <a:spcPct val="0"/>
              </a:spcBef>
            </a:pPr>
            <a:r>
              <a:rPr lang="en-US" sz="4400" b="1">
                <a:solidFill>
                  <a:srgbClr val="051838"/>
                </a:solidFill>
                <a:latin typeface="Bodoni Bd BT" panose="02070803080706020303" charset="0"/>
                <a:ea typeface="Montserrat Ultra-Bold" panose="00000900000000000000"/>
                <a:cs typeface="Bodoni Bd BT" panose="02070803080706020303" charset="0"/>
                <a:sym typeface="Montserrat Ultra-Bold" panose="00000900000000000000"/>
              </a:rPr>
              <a:t>FUTURE ENHANCEMENTS</a:t>
            </a:r>
            <a:endParaRPr lang="en-US" sz="4400" b="1">
              <a:solidFill>
                <a:srgbClr val="051838"/>
              </a:solidFill>
              <a:latin typeface="Bodoni Bd BT" panose="02070803080706020303" charset="0"/>
              <a:ea typeface="Montserrat Ultra-Bold" panose="00000900000000000000"/>
              <a:cs typeface="Bodoni Bd BT" panose="02070803080706020303" charset="0"/>
              <a:sym typeface="Montserrat Ultra-Bold" panose="000009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10820629" y="190469"/>
            <a:ext cx="7343202" cy="7343202"/>
            <a:chOff x="0" y="0"/>
            <a:chExt cx="812800" cy="812800"/>
          </a:xfrm>
          <a:blipFill rotWithShape="1">
            <a:blip r:embed="rId5">
              <a:alphaModFix amt="50000"/>
            </a:blip>
            <a:stretch>
              <a:fillRect/>
            </a:stretch>
          </a:blip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63654" y="3543337"/>
            <a:ext cx="12623582" cy="380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33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The AI-powered assistive mobility system enhances safety and independence for visually impaired users.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l">
              <a:lnSpc>
                <a:spcPts val="33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l">
              <a:lnSpc>
                <a:spcPts val="33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Combines real-time detection, voice guidance, and smart navigation for effective mobility.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l">
              <a:lnSpc>
                <a:spcPts val="33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l">
              <a:lnSpc>
                <a:spcPts val="33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Offers a scalable and inclusive solution for daily challenges.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l">
              <a:lnSpc>
                <a:spcPts val="3300"/>
              </a:lnSpc>
              <a:buFont typeface="Wingdings" panose="05000000000000000000" charset="0"/>
              <a:buChar char="Ø"/>
            </a:pP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  <a:p>
            <a:pPr marL="571500" indent="-571500" algn="l">
              <a:lnSpc>
                <a:spcPts val="3300"/>
              </a:lnSpc>
              <a:buFont typeface="Wingdings" panose="05000000000000000000" charset="0"/>
              <a:buChar char="Ø"/>
            </a:pPr>
            <a:r>
              <a:rPr lang="en-US" altLang="en-US" sz="3600">
                <a:solidFill>
                  <a:srgbClr val="051838"/>
                </a:solidFill>
                <a:latin typeface="Times New Roman" panose="02020603050405020304" charset="0"/>
                <a:ea typeface="Montserrat" panose="00000500000000000000"/>
                <a:cs typeface="Times New Roman" panose="02020603050405020304" charset="0"/>
                <a:sym typeface="Montserrat" panose="00000500000000000000"/>
              </a:rPr>
              <a:t>Paves the way for future innovations in accessible technology.</a:t>
            </a:r>
            <a:endParaRPr lang="en-US" altLang="en-US" sz="3600">
              <a:solidFill>
                <a:srgbClr val="051838"/>
              </a:solidFill>
              <a:latin typeface="Times New Roman" panose="02020603050405020304" charset="0"/>
              <a:ea typeface="Montserrat" panose="00000500000000000000"/>
              <a:cs typeface="Times New Roman" panose="02020603050405020304" charset="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581093" y="1714570"/>
            <a:ext cx="10321904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00"/>
              </a:lnSpc>
              <a:spcBef>
                <a:spcPct val="0"/>
              </a:spcBef>
            </a:pPr>
            <a:r>
              <a:rPr lang="en-US" sz="4400" b="1">
                <a:solidFill>
                  <a:srgbClr val="051838"/>
                </a:solidFill>
                <a:latin typeface="Bodoni Bd BT" panose="02070803080706020303" charset="0"/>
                <a:ea typeface="Montserrat Ultra-Bold" panose="00000900000000000000"/>
                <a:cs typeface="Bodoni Bd BT" panose="02070803080706020303" charset="0"/>
                <a:sym typeface="Montserrat Ultra-Bold" panose="00000900000000000000"/>
              </a:rPr>
              <a:t>CONCLUSION</a:t>
            </a:r>
            <a:endParaRPr lang="en-US" sz="4400" b="1">
              <a:solidFill>
                <a:srgbClr val="051838"/>
              </a:solidFill>
              <a:latin typeface="Bodoni Bd BT" panose="02070803080706020303" charset="0"/>
              <a:ea typeface="Montserrat Ultra-Bold" panose="00000900000000000000"/>
              <a:cs typeface="Bodoni Bd BT" panose="02070803080706020303" charset="0"/>
              <a:sym typeface="Montserrat Ultra-Bold" panose="000009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4"/>
          <p:cNvGrpSpPr/>
          <p:nvPr/>
        </p:nvGrpSpPr>
        <p:grpSpPr>
          <a:xfrm rot="0">
            <a:off x="-1981231" y="3848100"/>
            <a:ext cx="7343202" cy="7343202"/>
            <a:chOff x="0" y="0"/>
            <a:chExt cx="812800" cy="812800"/>
          </a:xfrm>
          <a:blipFill rotWithShape="1">
            <a:blip r:embed="rId5">
              <a:alphaModFix amt="44000"/>
            </a:blip>
            <a:stretch>
              <a:fillRect/>
            </a:stretch>
          </a:blipFill>
        </p:grpSpPr>
        <p:sp>
          <p:nvSpPr>
            <p:cNvPr id="11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2" name="Group 2"/>
          <p:cNvGrpSpPr/>
          <p:nvPr/>
        </p:nvGrpSpPr>
        <p:grpSpPr>
          <a:xfrm rot="0">
            <a:off x="11506165" y="-419056"/>
            <a:ext cx="7343202" cy="7343202"/>
            <a:chOff x="0" y="0"/>
            <a:chExt cx="812800" cy="812800"/>
          </a:xfrm>
          <a:blipFill rotWithShape="1">
            <a:blip r:embed="rId6">
              <a:alphaModFix amt="40000"/>
            </a:blip>
            <a:stretch>
              <a:fillRect/>
            </a:stretch>
          </a:blipFill>
        </p:grpSpPr>
        <p:sp>
          <p:nvSpPr>
            <p:cNvPr id="1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938270" y="3470910"/>
            <a:ext cx="11048365" cy="3577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50"/>
              </a:lnSpc>
            </a:pPr>
            <a:r>
              <a:rPr lang="en-US" sz="13950" b="1">
                <a:solidFill>
                  <a:srgbClr val="051838"/>
                </a:solidFill>
                <a:latin typeface="Algerian" panose="04020705040A02060702" charset="0"/>
                <a:ea typeface="Montserrat Ultra-Bold" panose="00000900000000000000"/>
                <a:cs typeface="Algerian" panose="04020705040A02060702" charset="0"/>
                <a:sym typeface="Montserrat Ultra-Bold" panose="00000900000000000000"/>
              </a:rPr>
              <a:t>THANK</a:t>
            </a:r>
            <a:endParaRPr lang="en-US" sz="13950" b="1">
              <a:solidFill>
                <a:srgbClr val="051838"/>
              </a:solidFill>
              <a:latin typeface="Algerian" panose="04020705040A02060702" charset="0"/>
              <a:ea typeface="Montserrat Ultra-Bold" panose="00000900000000000000"/>
              <a:cs typeface="Algerian" panose="04020705040A02060702" charset="0"/>
              <a:sym typeface="Montserrat Ultra-Bold" panose="00000900000000000000"/>
            </a:endParaRPr>
          </a:p>
          <a:p>
            <a:pPr algn="ctr">
              <a:lnSpc>
                <a:spcPts val="13950"/>
              </a:lnSpc>
              <a:spcBef>
                <a:spcPct val="0"/>
              </a:spcBef>
            </a:pPr>
            <a:r>
              <a:rPr lang="en-US" sz="13950" b="1">
                <a:solidFill>
                  <a:srgbClr val="051838"/>
                </a:solidFill>
                <a:latin typeface="Algerian" panose="04020705040A02060702" charset="0"/>
                <a:ea typeface="Montserrat Ultra-Bold" panose="00000900000000000000"/>
                <a:cs typeface="Algerian" panose="04020705040A02060702" charset="0"/>
                <a:sym typeface="Montserrat Ultra-Bold" panose="00000900000000000000"/>
              </a:rPr>
              <a:t>YOU</a:t>
            </a:r>
            <a:r>
              <a:rPr lang="en-US" sz="13950" b="1">
                <a:solidFill>
                  <a:srgbClr val="051838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 </a:t>
            </a:r>
            <a:endParaRPr lang="en-US" sz="13950" b="1">
              <a:solidFill>
                <a:srgbClr val="051838"/>
              </a:solidFill>
              <a:latin typeface="Montserrat Ultra-Bold" panose="00000900000000000000"/>
              <a:ea typeface="Montserrat Ultra-Bold" panose="00000900000000000000"/>
              <a:cs typeface="Montserrat Ultra-Bold" panose="00000900000000000000"/>
              <a:sym typeface="Montserrat Ultra-Bold" panose="000009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-2438171" y="4229069"/>
            <a:ext cx="7343202" cy="7343202"/>
            <a:chOff x="0" y="0"/>
            <a:chExt cx="812800" cy="812800"/>
          </a:xfrm>
          <a:blipFill rotWithShape="1">
            <a:blip r:embed="rId5">
              <a:alphaModFix amt="48000"/>
            </a:blip>
            <a:stretch>
              <a:fillRect/>
            </a:stretch>
          </a:blip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6" name="Diamond 15"/>
          <p:cNvSpPr/>
          <p:nvPr/>
        </p:nvSpPr>
        <p:spPr>
          <a:xfrm>
            <a:off x="12649200" y="0"/>
            <a:ext cx="6864350" cy="6899910"/>
          </a:xfrm>
          <a:prstGeom prst="diamond">
            <a:avLst/>
          </a:prstGeom>
          <a:blipFill rotWithShape="1">
            <a:blip r:embed="rId6">
              <a:alphaModFix amt="46000"/>
            </a:blip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4.111968503937,&quot;left&quot;:225.79543307086615,&quot;top&quot;:296.5947244094488,&quot;width&quot;:988.409212598425}"/>
</p:tagLst>
</file>

<file path=ppt/tags/tag2.xml><?xml version="1.0" encoding="utf-8"?>
<p:tagLst xmlns:p="http://schemas.openxmlformats.org/presentationml/2006/main">
  <p:tag name="KSO_WM_DIAGRAM_VIRTUALLY_FRAME" val="{&quot;height&quot;:299.0636220472441,&quot;left&quot;:81,&quot;top&quot;:304.4216535433071,&quot;width&quot;:696.317007874015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2419</Words>
  <Application>WPS Presentation</Application>
  <PresentationFormat>On-screen Show (4:3)</PresentationFormat>
  <Paragraphs>79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45" baseType="lpstr">
      <vt:lpstr>Arial</vt:lpstr>
      <vt:lpstr>SimSun</vt:lpstr>
      <vt:lpstr>Wingdings</vt:lpstr>
      <vt:lpstr>Montserrat Bold</vt:lpstr>
      <vt:lpstr>Montserrat</vt:lpstr>
      <vt:lpstr>Montserrat Ultra-Bold</vt:lpstr>
      <vt:lpstr>Montserrat Medium</vt:lpstr>
      <vt:lpstr>Microsoft YaHei</vt:lpstr>
      <vt:lpstr>Arial Unicode MS</vt:lpstr>
      <vt:lpstr>Calibri</vt:lpstr>
      <vt:lpstr>Times New Roman</vt:lpstr>
      <vt:lpstr>Wingdings</vt:lpstr>
      <vt:lpstr>Bodoni Bd BT</vt:lpstr>
      <vt:lpstr>Bauhaus 93</vt:lpstr>
      <vt:lpstr>Agency FB</vt:lpstr>
      <vt:lpstr>Algerian</vt:lpstr>
      <vt:lpstr>Bahnschrift SemiCondensed</vt:lpstr>
      <vt:lpstr>Bahnschrift SemiBold SemiCondensed</vt:lpstr>
      <vt:lpstr>Bahnschrift SemiBold Condensed</vt:lpstr>
      <vt:lpstr>Bahnschrift Light SemiCondensed</vt:lpstr>
      <vt:lpstr>Berlin Sans FB</vt:lpstr>
      <vt:lpstr>Bodoni MT Black</vt:lpstr>
      <vt:lpstr>Britannic Bold</vt:lpstr>
      <vt:lpstr>Broadway</vt:lpstr>
      <vt:lpstr>Brush Script MT</vt:lpstr>
      <vt:lpstr>Calibri Light</vt:lpstr>
      <vt:lpstr>Cambria</vt:lpstr>
      <vt:lpstr>Cascadia Code SemiBold</vt:lpstr>
      <vt:lpstr>Clarendon BT</vt:lpstr>
      <vt:lpstr>Clarendon Blk BT</vt:lpstr>
      <vt:lpstr>Colonna MT</vt:lpstr>
      <vt:lpstr>Cooper Black</vt:lpstr>
      <vt:lpstr>Consolas</vt:lpstr>
      <vt:lpstr>Clarendon Lt BT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Assistive Mobility for visually impaired</dc:title>
  <dc:creator/>
  <cp:lastModifiedBy>Vaishnavi Nalubandu</cp:lastModifiedBy>
  <cp:revision>4</cp:revision>
  <dcterms:created xsi:type="dcterms:W3CDTF">2006-08-16T00:00:00Z</dcterms:created>
  <dcterms:modified xsi:type="dcterms:W3CDTF">2025-09-26T14:42:14Z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0F67810E3CA643108FFBA6BB66586ABC_13</vt:lpwstr>
  </property>
  <property fmtid="{D5CDD505-2E9C-101B-9397-08002B2CF9AE}" pid="3" name="KSOProductBuildVer">
    <vt:lpwstr>1033-12.2.0.22549</vt:lpwstr>
  </property>
</Properties>
</file>